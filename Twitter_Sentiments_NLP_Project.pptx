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60" r:id="rId11"/>
    <p:sldId id="270" r:id="rId12"/>
    <p:sldId id="272" r:id="rId13"/>
    <p:sldId id="271" r:id="rId14"/>
    <p:sldId id="273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7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5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9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5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7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0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8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4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42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0404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06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25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1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99DAE3-9E8A-4642-AC2B-8D123ADBEFD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094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6A40-4F56-F119-41DB-03F8C7A90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TWITTER SENTIMENTS ON GOOGLE AND APPLE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8C80D-EEE7-6355-F505-AD178D0BA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STEPHEN JILANI</a:t>
            </a:r>
          </a:p>
        </p:txBody>
      </p:sp>
    </p:spTree>
    <p:extLst>
      <p:ext uri="{BB962C8B-B14F-4D97-AF65-F5344CB8AC3E}">
        <p14:creationId xmlns:p14="http://schemas.microsoft.com/office/powerpoint/2010/main" val="292945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FEA7-90EF-4F04-B437-38E76344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24C2-642A-BE1E-0E60-4F0E566E5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Kenyan company is in the predicament of classifying twitter reviews on Google and Apple products and would like to build a model that can assist in sentiment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61735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0A11-4F0B-274C-22EC-C4F0A8AE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D538-8061-02D4-47E4-F2722E6DC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Build a classification model that helps in the classification of twitter reviews.</a:t>
            </a:r>
          </a:p>
          <a:p>
            <a:r>
              <a:rPr lang="en-US" sz="2800" dirty="0"/>
              <a:t>Compare multiple model performance based on F1 score, precision and recall.</a:t>
            </a:r>
          </a:p>
          <a:p>
            <a:r>
              <a:rPr lang="en-US" sz="2800" dirty="0"/>
              <a:t>To provide insights on customer sentiment distribution.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7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364E-3F09-21EE-E8FE-2C2E891C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84E3-BA32-8A31-5512-6D69A10E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The data was obtained from CrowdFlower via </a:t>
            </a:r>
            <a:r>
              <a:rPr lang="en-US" sz="2600" dirty="0" err="1"/>
              <a:t>dataworld</a:t>
            </a:r>
            <a:r>
              <a:rPr lang="en-US" sz="2600" dirty="0"/>
              <a:t> and is composed of sentiments in over 9,000 tweets in relation to Apple and Google products.</a:t>
            </a:r>
          </a:p>
          <a:p>
            <a:r>
              <a:rPr lang="en-US" sz="2600" dirty="0"/>
              <a:t>The data contains 3 columns </a:t>
            </a:r>
            <a:r>
              <a:rPr lang="en-US" sz="2600" dirty="0" err="1"/>
              <a:t>i.e</a:t>
            </a:r>
            <a:r>
              <a:rPr lang="en-US" sz="2600" dirty="0"/>
              <a:t> tweet text, Brand and Sentiment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804081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28F2-7B49-2E90-2A58-48CDBAD58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C98DB0-D22D-658D-8D84-EBD7FE34E7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977656"/>
            <a:ext cx="4551180" cy="420024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E1121-764E-6451-ADDE-1F18F5071D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graph shows that most of the reviews are directed toward Apple compared to Google</a:t>
            </a:r>
          </a:p>
        </p:txBody>
      </p:sp>
    </p:spTree>
    <p:extLst>
      <p:ext uri="{BB962C8B-B14F-4D97-AF65-F5344CB8AC3E}">
        <p14:creationId xmlns:p14="http://schemas.microsoft.com/office/powerpoint/2010/main" val="145597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03B43-95CA-FDBD-B5DC-80E1C0E0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42BDF-E625-0E50-C205-6931BB32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600" dirty="0"/>
              <a:t>EXPLORATORY DATA ANALYSIS….</a:t>
            </a:r>
            <a:r>
              <a:rPr lang="en-US" sz="3600" dirty="0" err="1"/>
              <a:t>contd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FF429-03C0-121C-7B0A-EB2E67144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graph shows that most of the reviews have been classified as neutral indicating indifference in the products.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E970E1-4F9A-CE8A-78D4-98F16523ED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594884"/>
            <a:ext cx="4551180" cy="431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55EA-6D0D-B117-D328-17141BBF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67BF-B592-2E88-8BF8-182F64AF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600" dirty="0"/>
              <a:t>EXPLORATORY DATA ANALYSIS….</a:t>
            </a:r>
            <a:r>
              <a:rPr lang="en-US" sz="3600" dirty="0" err="1"/>
              <a:t>contd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5A37E-7BBD-E4D0-82FB-4592E54D4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graph shows the distribution of reviews between Apple and Google together with their respective sentiments.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16AAC6-06D4-D0D5-7615-9C0E97E44E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509823"/>
            <a:ext cx="4551180" cy="46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6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8B8C-ABBC-3092-F302-ACC0CBE2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2879-92D3-FC91-7599-F6E7112C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600" dirty="0"/>
              <a:t>EXPLORATORY DATA ANALYSIS….</a:t>
            </a:r>
            <a:r>
              <a:rPr lang="en-US" sz="3600" dirty="0" err="1"/>
              <a:t>contd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6F0A4-5990-A184-440F-AF8D861D0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graph shows the </a:t>
            </a:r>
            <a:r>
              <a:rPr lang="en-US" sz="3200" dirty="0" err="1"/>
              <a:t>the</a:t>
            </a:r>
            <a:r>
              <a:rPr lang="en-US" sz="3200" dirty="0"/>
              <a:t> most frequent words in the dataset which may be the biggest drivers of sentiment classification.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87E286-E3C2-EF75-374A-A40A24120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594884"/>
            <a:ext cx="4702064" cy="430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5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7A6D-E566-667F-FACA-63171994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F67F-1C18-5F3C-E8F9-A08F1A1A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600" dirty="0"/>
              <a:t>EXPLORATORY DATA ANALYSIS….</a:t>
            </a:r>
            <a:r>
              <a:rPr lang="en-US" sz="3600" dirty="0" err="1"/>
              <a:t>contd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537F6-A4B6-579C-86CE-A472C2BBA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This is a visualization of the most frequent phrases in the dataset.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049079-4974-F443-A9B7-C27B0D33E5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711842"/>
            <a:ext cx="4395787" cy="432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6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4FCD-6AAA-4B48-BD2D-60479EAC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MODELLING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9F2B-5F1A-7F3A-8B38-7B4D3A4D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3 binary classification models were explored </a:t>
            </a:r>
            <a:r>
              <a:rPr lang="en-US" sz="2800" dirty="0" err="1"/>
              <a:t>i.e</a:t>
            </a:r>
            <a:r>
              <a:rPr lang="en-US" sz="2800" dirty="0"/>
              <a:t> Logistic Regression, </a:t>
            </a:r>
            <a:r>
              <a:rPr lang="en-US" sz="2800" dirty="0" err="1"/>
              <a:t>RandomForest</a:t>
            </a:r>
            <a:r>
              <a:rPr lang="en-US" sz="2800" dirty="0"/>
              <a:t> and </a:t>
            </a:r>
            <a:r>
              <a:rPr lang="en-US" sz="2800" dirty="0" err="1"/>
              <a:t>XGBoost</a:t>
            </a:r>
            <a:r>
              <a:rPr lang="en-US" sz="2800" dirty="0"/>
              <a:t>. Both </a:t>
            </a:r>
            <a:r>
              <a:rPr lang="en-US" sz="2800" dirty="0" err="1"/>
              <a:t>RandomForest</a:t>
            </a:r>
            <a:r>
              <a:rPr lang="en-US" sz="2800" dirty="0"/>
              <a:t> and XG Boost were fine tuned.</a:t>
            </a:r>
          </a:p>
          <a:p>
            <a:r>
              <a:rPr lang="en-US" sz="2800" dirty="0"/>
              <a:t>1 multiclass classification model was explored </a:t>
            </a:r>
            <a:r>
              <a:rPr lang="en-US" sz="2800" dirty="0" err="1"/>
              <a:t>i.e</a:t>
            </a:r>
            <a:r>
              <a:rPr lang="en-US" sz="2800" dirty="0"/>
              <a:t> </a:t>
            </a:r>
            <a:r>
              <a:rPr lang="en-US" sz="2800" dirty="0" err="1"/>
              <a:t>XGBoost</a:t>
            </a:r>
            <a:r>
              <a:rPr lang="en-US" sz="2800" dirty="0"/>
              <a:t> and it was fine tuned.</a:t>
            </a:r>
          </a:p>
          <a:p>
            <a:r>
              <a:rPr lang="en-US" sz="2800" dirty="0"/>
              <a:t>The best models have been discussed below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0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EE5A-9171-C6EC-CFCE-693D4AE9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DF7C-0F78-98CE-6220-8556F49C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200" dirty="0"/>
              <a:t>DATA MODELLING AND EVALUATION….</a:t>
            </a:r>
            <a:r>
              <a:rPr lang="en-US" sz="3200" dirty="0" err="1"/>
              <a:t>contd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0AEC2-EE6C-D32A-CD4D-FEDC6E735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confusion matrix is for the best binary(tuned XG Boost) classification model.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8CAB07B-48F2-FCFD-F0F8-64A1521A5A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71870" y="1722474"/>
            <a:ext cx="489097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4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D76C-6AA3-C2DF-A094-467E1F6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5AEA-C407-BEB2-A1D6-29D9EA79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200" dirty="0"/>
              <a:t>DATA MODELLING AND EVALUATION….</a:t>
            </a:r>
            <a:r>
              <a:rPr lang="en-US" sz="3200" dirty="0" err="1"/>
              <a:t>contd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5A19F-20DF-86D9-EBFB-E29E05E2C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graph is for the 20 most important features in the binary classification problem.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28D711-AF1E-5D67-1965-AEAB2AB32D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669312"/>
            <a:ext cx="4551180" cy="44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43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7849-00F6-F348-181D-169AA8AA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BFF0-3C27-104A-C55A-9447A3F34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200" dirty="0"/>
              <a:t>DATA MODELLING AND EVALUATION….</a:t>
            </a:r>
            <a:r>
              <a:rPr lang="en-US" sz="3200" dirty="0" err="1"/>
              <a:t>contd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1A692-1542-4FE3-7BB0-1920D9489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confusion matrix is for the best multiclass model (tuned </a:t>
            </a:r>
            <a:r>
              <a:rPr lang="en-US" sz="3200" dirty="0" err="1"/>
              <a:t>XGBoost</a:t>
            </a:r>
            <a:r>
              <a:rPr lang="en-US" sz="3200" dirty="0"/>
              <a:t>) classification model.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15F404-6117-FBDD-93DA-87F72BB39D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594884"/>
            <a:ext cx="4765859" cy="414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44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4AC0-B2BD-A496-F5F1-8DF1513B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575F-3F54-68C3-B428-1262CB7D5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249"/>
          </a:xfrm>
        </p:spPr>
        <p:txBody>
          <a:bodyPr/>
          <a:lstStyle/>
          <a:p>
            <a:r>
              <a:rPr lang="en-US" sz="3200" dirty="0"/>
              <a:t>DATA MODELLING AND EVALUATION….</a:t>
            </a:r>
            <a:r>
              <a:rPr lang="en-US" sz="3200" dirty="0" err="1"/>
              <a:t>contd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44859-0589-AC10-7314-3D667F103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594884"/>
            <a:ext cx="4396341" cy="4661453"/>
          </a:xfrm>
        </p:spPr>
        <p:txBody>
          <a:bodyPr>
            <a:normAutofit/>
          </a:bodyPr>
          <a:lstStyle/>
          <a:p>
            <a:r>
              <a:rPr lang="en-US" sz="3200" dirty="0"/>
              <a:t>The graph shows the most important features in the multiclass classification model.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6BF1DC-0114-857E-4ECF-2BFE792C59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1594884"/>
            <a:ext cx="4638268" cy="414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83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FD2C-7F74-83BD-5A98-2876D1B7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4DA9-CFA0-63C0-EFFA-07293E293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1. The stakeholders should implement the best models in the classification of review sentiments.</a:t>
            </a:r>
          </a:p>
          <a:p>
            <a:r>
              <a:rPr lang="en-US" sz="2800" dirty="0"/>
              <a:t>2. The stakeholders need to </a:t>
            </a:r>
            <a:r>
              <a:rPr lang="en-US" sz="2800" dirty="0" err="1"/>
              <a:t>analyse</a:t>
            </a:r>
            <a:r>
              <a:rPr lang="en-US" sz="2800" dirty="0"/>
              <a:t> top features that drive negative emotions and identify what exactly lead to such sentiments.</a:t>
            </a:r>
          </a:p>
          <a:p>
            <a:r>
              <a:rPr lang="en-US" sz="2800" dirty="0"/>
              <a:t>3. The stakeholders should focus more on negative sentiments and route them to customer support and product teams.</a:t>
            </a:r>
          </a:p>
        </p:txBody>
      </p:sp>
    </p:spTree>
    <p:extLst>
      <p:ext uri="{BB962C8B-B14F-4D97-AF65-F5344CB8AC3E}">
        <p14:creationId xmlns:p14="http://schemas.microsoft.com/office/powerpoint/2010/main" val="404386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ADF9-5BE5-9D4E-3F67-F8BB16ED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7EDEF-F0DB-9284-9025-F8E5988EB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Class imbalance may </a:t>
            </a:r>
            <a:r>
              <a:rPr lang="en-US" sz="2800" dirty="0" err="1"/>
              <a:t>affact</a:t>
            </a:r>
            <a:r>
              <a:rPr lang="en-US" sz="2800" dirty="0"/>
              <a:t> the performance of the model</a:t>
            </a:r>
          </a:p>
          <a:p>
            <a:r>
              <a:rPr lang="en-US" sz="2800" dirty="0"/>
              <a:t>- The data was social media noisy and that may affect the performance of the model</a:t>
            </a:r>
          </a:p>
          <a:p>
            <a:r>
              <a:rPr lang="en-US" sz="2800" dirty="0"/>
              <a:t>The data may be from a specific region in the world and may not be fit for the stakeholder’s region.</a:t>
            </a:r>
          </a:p>
        </p:txBody>
      </p:sp>
    </p:spTree>
    <p:extLst>
      <p:ext uri="{BB962C8B-B14F-4D97-AF65-F5344CB8AC3E}">
        <p14:creationId xmlns:p14="http://schemas.microsoft.com/office/powerpoint/2010/main" val="364002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CA1A-AEDA-799A-1CA3-D07745C64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8388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DED6-4B79-349A-E625-3C8A2C6AC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22571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</TotalTime>
  <Words>476</Words>
  <Application>Microsoft Office PowerPoint</Application>
  <PresentationFormat>Widescreen</PresentationFormat>
  <Paragraphs>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Ion</vt:lpstr>
      <vt:lpstr>TWITTER SENTIMENTS ON GOOGLE AND APPLE PRODUCTS</vt:lpstr>
      <vt:lpstr>BUSINESS OVERVIEW</vt:lpstr>
      <vt:lpstr>BUSINESS OBJECTIVES</vt:lpstr>
      <vt:lpstr>DATA UNDERSTANDING</vt:lpstr>
      <vt:lpstr>EXPLORATORY DATA ANALYSIS</vt:lpstr>
      <vt:lpstr>EXPLORATORY DATA ANALYSIS….contd</vt:lpstr>
      <vt:lpstr>EXPLORATORY DATA ANALYSIS….contd</vt:lpstr>
      <vt:lpstr>EXPLORATORY DATA ANALYSIS….contd</vt:lpstr>
      <vt:lpstr>EXPLORATORY DATA ANALYSIS….contd</vt:lpstr>
      <vt:lpstr>DATA MODELLING AND EVALUATION</vt:lpstr>
      <vt:lpstr>DATA MODELLING AND EVALUATION….contd</vt:lpstr>
      <vt:lpstr>DATA MODELLING AND EVALUATION….contd</vt:lpstr>
      <vt:lpstr>DATA MODELLING AND EVALUATION….contd</vt:lpstr>
      <vt:lpstr>DATA MODELLING AND EVALUATION….contd</vt:lpstr>
      <vt:lpstr>BUSINESS RECOMMENDATIONS</vt:lpstr>
      <vt:lpstr>LIMITATIONS</vt:lpstr>
      <vt:lpstr>THANK YOU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jilani</dc:creator>
  <cp:lastModifiedBy>stephen jilani</cp:lastModifiedBy>
  <cp:revision>15</cp:revision>
  <dcterms:created xsi:type="dcterms:W3CDTF">2026-05-06T09:31:10Z</dcterms:created>
  <dcterms:modified xsi:type="dcterms:W3CDTF">2026-06-14T16:17:11Z</dcterms:modified>
</cp:coreProperties>
</file>